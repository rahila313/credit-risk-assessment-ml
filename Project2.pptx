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 Bold" panose="020B0803030501040103"/>
      <p:regular r:id="rId12"/>
      <p:bold r:id="rId13"/>
    </p:embeddedFont>
    <p:embeddedFont>
      <p:font typeface="Helios" panose="020B0504020202020204"/>
      <p:regular r:id="rId14"/>
    </p:embeddedFont>
    <p:embeddedFont>
      <p:font typeface="Helios Bold" panose="020B0704020202020204"/>
      <p:regular r:id="rId15"/>
      <p:bold r:id="rId16"/>
    </p:embeddedFont>
    <p:embeddedFont>
      <p:font typeface="Helios Italics" panose="020B0503020202090204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6" autoAdjust="0"/>
  </p:normalViewPr>
  <p:slideViewPr>
    <p:cSldViewPr>
      <p:cViewPr varScale="1">
        <p:scale>
          <a:sx n="76" d="100"/>
          <a:sy n="76" d="100"/>
        </p:scale>
        <p:origin x="712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0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9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030771" y="3990166"/>
            <a:ext cx="11259178" cy="7450167"/>
          </a:xfrm>
          <a:custGeom>
            <a:avLst/>
            <a:gdLst/>
            <a:ahLst/>
            <a:cxnLst/>
            <a:rect l="l" t="t" r="r" b="b"/>
            <a:pathLst>
              <a:path w="11259178" h="7450167">
                <a:moveTo>
                  <a:pt x="0" y="0"/>
                </a:moveTo>
                <a:lnTo>
                  <a:pt x="11259179" y="0"/>
                </a:lnTo>
                <a:lnTo>
                  <a:pt x="11259179" y="7450168"/>
                </a:lnTo>
                <a:lnTo>
                  <a:pt x="0" y="7450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6707265">
            <a:off x="-5676343" y="-2150050"/>
            <a:ext cx="11259178" cy="7450167"/>
          </a:xfrm>
          <a:custGeom>
            <a:avLst/>
            <a:gdLst/>
            <a:ahLst/>
            <a:cxnLst/>
            <a:rect l="l" t="t" r="r" b="b"/>
            <a:pathLst>
              <a:path w="11259178" h="7450167">
                <a:moveTo>
                  <a:pt x="0" y="0"/>
                </a:moveTo>
                <a:lnTo>
                  <a:pt x="11259179" y="0"/>
                </a:lnTo>
                <a:lnTo>
                  <a:pt x="11259179" y="7450167"/>
                </a:lnTo>
                <a:lnTo>
                  <a:pt x="0" y="74501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2004249" y="0"/>
            <a:ext cx="3141876" cy="7200900"/>
            <a:chOff x="0" y="0"/>
            <a:chExt cx="827490" cy="18965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7490" cy="1896533"/>
            </a:xfrm>
            <a:custGeom>
              <a:avLst/>
              <a:gdLst/>
              <a:ahLst/>
              <a:cxnLst/>
              <a:rect l="l" t="t" r="r" b="b"/>
              <a:pathLst>
                <a:path w="827490" h="1896533">
                  <a:moveTo>
                    <a:pt x="0" y="0"/>
                  </a:moveTo>
                  <a:lnTo>
                    <a:pt x="827490" y="0"/>
                  </a:lnTo>
                  <a:lnTo>
                    <a:pt x="827490" y="1896533"/>
                  </a:lnTo>
                  <a:lnTo>
                    <a:pt x="0" y="1896533"/>
                  </a:lnTo>
                  <a:close/>
                </a:path>
              </a:pathLst>
            </a:custGeom>
            <a:solidFill>
              <a:srgbClr val="E4E2DC">
                <a:alpha val="4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27490" cy="1953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46124" y="0"/>
            <a:ext cx="3141876" cy="7200900"/>
            <a:chOff x="0" y="0"/>
            <a:chExt cx="827490" cy="18965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7490" cy="1896533"/>
            </a:xfrm>
            <a:custGeom>
              <a:avLst/>
              <a:gdLst/>
              <a:ahLst/>
              <a:cxnLst/>
              <a:rect l="l" t="t" r="r" b="b"/>
              <a:pathLst>
                <a:path w="827490" h="1896533">
                  <a:moveTo>
                    <a:pt x="0" y="0"/>
                  </a:moveTo>
                  <a:lnTo>
                    <a:pt x="827490" y="0"/>
                  </a:lnTo>
                  <a:lnTo>
                    <a:pt x="827490" y="1896533"/>
                  </a:lnTo>
                  <a:lnTo>
                    <a:pt x="0" y="1896533"/>
                  </a:lnTo>
                  <a:close/>
                </a:path>
              </a:pathLst>
            </a:custGeom>
            <a:solidFill>
              <a:srgbClr val="CBD6C8">
                <a:alpha val="6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27490" cy="1953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06786" y="0"/>
            <a:ext cx="3141876" cy="6172200"/>
            <a:chOff x="0" y="0"/>
            <a:chExt cx="827490" cy="1625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7490" cy="1625600"/>
            </a:xfrm>
            <a:custGeom>
              <a:avLst/>
              <a:gdLst/>
              <a:ahLst/>
              <a:cxnLst/>
              <a:rect l="l" t="t" r="r" b="b"/>
              <a:pathLst>
                <a:path w="827490" h="1625600">
                  <a:moveTo>
                    <a:pt x="0" y="0"/>
                  </a:moveTo>
                  <a:lnTo>
                    <a:pt x="827490" y="0"/>
                  </a:lnTo>
                  <a:lnTo>
                    <a:pt x="82749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F2F1EC">
                <a:alpha val="4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27490" cy="1682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8946" y="1871758"/>
            <a:ext cx="9749716" cy="277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56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Credit Risk Assessment: </a:t>
            </a:r>
            <a:r>
              <a:rPr lang="en-US" sz="5600" i="1">
                <a:solidFill>
                  <a:srgbClr val="000000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Predicting Loan Default Using Machine Learning</a:t>
            </a:r>
          </a:p>
        </p:txBody>
      </p:sp>
      <p:sp>
        <p:nvSpPr>
          <p:cNvPr id="15" name="Freeform 15"/>
          <p:cNvSpPr/>
          <p:nvPr/>
        </p:nvSpPr>
        <p:spPr>
          <a:xfrm rot="5400000">
            <a:off x="11312468" y="6436020"/>
            <a:ext cx="4723452" cy="2943860"/>
          </a:xfrm>
          <a:custGeom>
            <a:avLst/>
            <a:gdLst/>
            <a:ahLst/>
            <a:cxnLst/>
            <a:rect l="l" t="t" r="r" b="b"/>
            <a:pathLst>
              <a:path w="4723452" h="2943860">
                <a:moveTo>
                  <a:pt x="0" y="0"/>
                </a:moveTo>
                <a:lnTo>
                  <a:pt x="4723452" y="0"/>
                </a:lnTo>
                <a:lnTo>
                  <a:pt x="4723452" y="2943861"/>
                </a:lnTo>
                <a:lnTo>
                  <a:pt x="0" y="2943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631" t="-64801" r="-1424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2004249" y="5546224"/>
            <a:ext cx="3141876" cy="4740776"/>
            <a:chOff x="0" y="0"/>
            <a:chExt cx="827490" cy="12485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7490" cy="1248599"/>
            </a:xfrm>
            <a:custGeom>
              <a:avLst/>
              <a:gdLst/>
              <a:ahLst/>
              <a:cxnLst/>
              <a:rect l="l" t="t" r="r" b="b"/>
              <a:pathLst>
                <a:path w="827490" h="1248599">
                  <a:moveTo>
                    <a:pt x="0" y="0"/>
                  </a:moveTo>
                  <a:lnTo>
                    <a:pt x="827490" y="0"/>
                  </a:lnTo>
                  <a:lnTo>
                    <a:pt x="827490" y="1248599"/>
                  </a:lnTo>
                  <a:lnTo>
                    <a:pt x="0" y="1248599"/>
                  </a:lnTo>
                  <a:close/>
                </a:path>
              </a:pathLst>
            </a:custGeom>
            <a:solidFill>
              <a:srgbClr val="CC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827490" cy="1305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6086008" y="8397046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5146124" y="3705630"/>
            <a:ext cx="3141876" cy="6581370"/>
            <a:chOff x="0" y="0"/>
            <a:chExt cx="827490" cy="17333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7490" cy="1733365"/>
            </a:xfrm>
            <a:custGeom>
              <a:avLst/>
              <a:gdLst/>
              <a:ahLst/>
              <a:cxnLst/>
              <a:rect l="l" t="t" r="r" b="b"/>
              <a:pathLst>
                <a:path w="827490" h="1733365">
                  <a:moveTo>
                    <a:pt x="0" y="0"/>
                  </a:moveTo>
                  <a:lnTo>
                    <a:pt x="827490" y="0"/>
                  </a:lnTo>
                  <a:lnTo>
                    <a:pt x="827490" y="1733365"/>
                  </a:lnTo>
                  <a:lnTo>
                    <a:pt x="0" y="1733365"/>
                  </a:lnTo>
                  <a:close/>
                </a:path>
              </a:pathLst>
            </a:custGeom>
            <a:solidFill>
              <a:srgbClr val="4CA62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27490" cy="1790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712255" y="8443912"/>
            <a:ext cx="4863491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 402 - Project 2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Rahila Jafari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924105" y="8481818"/>
            <a:ext cx="2345842" cy="2375536"/>
          </a:xfrm>
          <a:custGeom>
            <a:avLst/>
            <a:gdLst/>
            <a:ahLst/>
            <a:cxnLst/>
            <a:rect l="l" t="t" r="r" b="b"/>
            <a:pathLst>
              <a:path w="2345842" h="2375536">
                <a:moveTo>
                  <a:pt x="0" y="0"/>
                </a:moveTo>
                <a:lnTo>
                  <a:pt x="2345842" y="0"/>
                </a:lnTo>
                <a:lnTo>
                  <a:pt x="2345842" y="2375536"/>
                </a:lnTo>
                <a:lnTo>
                  <a:pt x="0" y="2375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706892" y="-1716108"/>
            <a:ext cx="3105864" cy="2744808"/>
          </a:xfrm>
          <a:custGeom>
            <a:avLst/>
            <a:gdLst/>
            <a:ahLst/>
            <a:cxnLst/>
            <a:rect l="l" t="t" r="r" b="b"/>
            <a:pathLst>
              <a:path w="3105864" h="2744808">
                <a:moveTo>
                  <a:pt x="0" y="0"/>
                </a:moveTo>
                <a:lnTo>
                  <a:pt x="3105865" y="0"/>
                </a:lnTo>
                <a:lnTo>
                  <a:pt x="3105865" y="2744808"/>
                </a:lnTo>
                <a:lnTo>
                  <a:pt x="0" y="2744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947232" y="1293780"/>
            <a:ext cx="110120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i="1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Introduction &amp; 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0183" y="3024760"/>
            <a:ext cx="9346461" cy="5881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3166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Introduction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Loan approval is a critical decision for banks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High-risk borrowers may fail to repay loans (loan default)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Loan defaults cause significant financial losses</a:t>
            </a:r>
          </a:p>
          <a:p>
            <a:pPr algn="l">
              <a:lnSpc>
                <a:spcPts val="2955"/>
              </a:lnSpc>
            </a:pPr>
            <a:endParaRPr lang="en-US" sz="24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4432"/>
              </a:lnSpc>
            </a:pPr>
            <a:r>
              <a:rPr lang="en-US" sz="3166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Problem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Traditional methods rely on credit scores and judgment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Limited ability to accurately predict default risk</a:t>
            </a:r>
          </a:p>
          <a:p>
            <a:pPr algn="l">
              <a:lnSpc>
                <a:spcPts val="2955"/>
              </a:lnSpc>
            </a:pPr>
            <a:endParaRPr lang="en-US" sz="24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4432"/>
              </a:lnSpc>
            </a:pPr>
            <a:r>
              <a:rPr lang="en-US" sz="3166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Project Focus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Predict loan default using machine learning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Compare Logistic Regression, Decision Tree, Random Forest</a:t>
            </a:r>
          </a:p>
          <a:p>
            <a:pPr algn="l">
              <a:lnSpc>
                <a:spcPts val="2955"/>
              </a:lnSpc>
            </a:pPr>
            <a:endParaRPr lang="en-US" sz="24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924105" y="8481818"/>
            <a:ext cx="2345842" cy="2375536"/>
          </a:xfrm>
          <a:custGeom>
            <a:avLst/>
            <a:gdLst/>
            <a:ahLst/>
            <a:cxnLst/>
            <a:rect l="l" t="t" r="r" b="b"/>
            <a:pathLst>
              <a:path w="2345842" h="2375536">
                <a:moveTo>
                  <a:pt x="0" y="0"/>
                </a:moveTo>
                <a:lnTo>
                  <a:pt x="2345842" y="0"/>
                </a:lnTo>
                <a:lnTo>
                  <a:pt x="2345842" y="2375536"/>
                </a:lnTo>
                <a:lnTo>
                  <a:pt x="0" y="2375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706892" y="-1716108"/>
            <a:ext cx="3105864" cy="2744808"/>
          </a:xfrm>
          <a:custGeom>
            <a:avLst/>
            <a:gdLst/>
            <a:ahLst/>
            <a:cxnLst/>
            <a:rect l="l" t="t" r="r" b="b"/>
            <a:pathLst>
              <a:path w="3105864" h="2744808">
                <a:moveTo>
                  <a:pt x="0" y="0"/>
                </a:moveTo>
                <a:lnTo>
                  <a:pt x="3105865" y="0"/>
                </a:lnTo>
                <a:lnTo>
                  <a:pt x="3105865" y="2744808"/>
                </a:lnTo>
                <a:lnTo>
                  <a:pt x="0" y="2744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947232" y="1293780"/>
            <a:ext cx="110120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i="1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Dataset &amp; Data Preparation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0183" y="2924760"/>
            <a:ext cx="8383817" cy="616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Dataset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Credit risk dataset (Kaggle)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32,574 loan applications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12 features describing borrower profiles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Target: Loan Status (Default / No Default)</a:t>
            </a:r>
          </a:p>
          <a:p>
            <a:pPr algn="l">
              <a:lnSpc>
                <a:spcPts val="2955"/>
              </a:lnSpc>
            </a:pPr>
            <a:endParaRPr lang="en-US" sz="24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2955"/>
              </a:lnSpc>
            </a:pPr>
            <a:endParaRPr lang="en-US" sz="24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4432"/>
              </a:lnSpc>
            </a:pPr>
            <a:r>
              <a:rPr lang="en-US" sz="3166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Data Preparation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Filled missing values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Removed unrealistic values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Encoded categorical variables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Scaled features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Split data (80% train / 20% test)</a:t>
            </a:r>
          </a:p>
          <a:p>
            <a:pPr algn="l">
              <a:lnSpc>
                <a:spcPts val="2955"/>
              </a:lnSpc>
            </a:pPr>
            <a:endParaRPr lang="en-US" sz="24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0" y="2934285"/>
            <a:ext cx="8383817" cy="319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3166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Key Features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Demographics: age, income, home ownership, employment length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Loan Details: loan amount, interest rate, loan intent, loan grade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Credit History: prior default, credit history length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Financial Ratio: loan percent of income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-633349" y="-180441"/>
            <a:ext cx="1662049" cy="1209141"/>
          </a:xfrm>
          <a:custGeom>
            <a:avLst/>
            <a:gdLst/>
            <a:ahLst/>
            <a:cxnLst/>
            <a:rect l="l" t="t" r="r" b="b"/>
            <a:pathLst>
              <a:path w="1662049" h="1209141">
                <a:moveTo>
                  <a:pt x="1662049" y="1209141"/>
                </a:moveTo>
                <a:lnTo>
                  <a:pt x="0" y="1209141"/>
                </a:lnTo>
                <a:lnTo>
                  <a:pt x="0" y="0"/>
                </a:lnTo>
                <a:lnTo>
                  <a:pt x="1662049" y="0"/>
                </a:lnTo>
                <a:lnTo>
                  <a:pt x="1662049" y="120914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60870" y="4632065"/>
            <a:ext cx="9223498" cy="5054920"/>
          </a:xfrm>
          <a:custGeom>
            <a:avLst/>
            <a:gdLst/>
            <a:ahLst/>
            <a:cxnLst/>
            <a:rect l="l" t="t" r="r" b="b"/>
            <a:pathLst>
              <a:path w="9223498" h="5054920">
                <a:moveTo>
                  <a:pt x="0" y="0"/>
                </a:moveTo>
                <a:lnTo>
                  <a:pt x="9223498" y="0"/>
                </a:lnTo>
                <a:lnTo>
                  <a:pt x="9223498" y="5054920"/>
                </a:lnTo>
                <a:lnTo>
                  <a:pt x="0" y="5054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19" r="-58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949314" y="4632065"/>
            <a:ext cx="6309986" cy="5054920"/>
          </a:xfrm>
          <a:custGeom>
            <a:avLst/>
            <a:gdLst/>
            <a:ahLst/>
            <a:cxnLst/>
            <a:rect l="l" t="t" r="r" b="b"/>
            <a:pathLst>
              <a:path w="6309986" h="5054920">
                <a:moveTo>
                  <a:pt x="0" y="0"/>
                </a:moveTo>
                <a:lnTo>
                  <a:pt x="6309986" y="0"/>
                </a:lnTo>
                <a:lnTo>
                  <a:pt x="6309986" y="5054920"/>
                </a:lnTo>
                <a:lnTo>
                  <a:pt x="0" y="5054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622" b="-126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066800"/>
            <a:ext cx="7872473" cy="1720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4"/>
              </a:lnSpc>
            </a:pPr>
            <a:r>
              <a:rPr lang="en-US" sz="6031" i="1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Loan Default Overview &amp; Purpose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-633349" y="-180441"/>
            <a:ext cx="1662049" cy="1209141"/>
          </a:xfrm>
          <a:custGeom>
            <a:avLst/>
            <a:gdLst/>
            <a:ahLst/>
            <a:cxnLst/>
            <a:rect l="l" t="t" r="r" b="b"/>
            <a:pathLst>
              <a:path w="1662049" h="1209141">
                <a:moveTo>
                  <a:pt x="1662049" y="1209141"/>
                </a:moveTo>
                <a:lnTo>
                  <a:pt x="0" y="1209141"/>
                </a:lnTo>
                <a:lnTo>
                  <a:pt x="0" y="0"/>
                </a:lnTo>
                <a:lnTo>
                  <a:pt x="1662049" y="0"/>
                </a:lnTo>
                <a:lnTo>
                  <a:pt x="1662049" y="120914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778168" y="728937"/>
            <a:ext cx="9327341" cy="4040801"/>
          </a:xfrm>
          <a:custGeom>
            <a:avLst/>
            <a:gdLst/>
            <a:ahLst/>
            <a:cxnLst/>
            <a:rect l="l" t="t" r="r" b="b"/>
            <a:pathLst>
              <a:path w="9327341" h="4040801">
                <a:moveTo>
                  <a:pt x="0" y="0"/>
                </a:moveTo>
                <a:lnTo>
                  <a:pt x="9327341" y="0"/>
                </a:lnTo>
                <a:lnTo>
                  <a:pt x="9327341" y="4040801"/>
                </a:lnTo>
                <a:lnTo>
                  <a:pt x="0" y="40408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90889" y="5143500"/>
            <a:ext cx="8581598" cy="4703128"/>
          </a:xfrm>
          <a:custGeom>
            <a:avLst/>
            <a:gdLst/>
            <a:ahLst/>
            <a:cxnLst/>
            <a:rect l="l" t="t" r="r" b="b"/>
            <a:pathLst>
              <a:path w="8581598" h="4703128">
                <a:moveTo>
                  <a:pt x="0" y="0"/>
                </a:moveTo>
                <a:lnTo>
                  <a:pt x="8581598" y="0"/>
                </a:lnTo>
                <a:lnTo>
                  <a:pt x="8581598" y="4703128"/>
                </a:lnTo>
                <a:lnTo>
                  <a:pt x="0" y="4703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795523" y="5143500"/>
            <a:ext cx="6309986" cy="4703128"/>
          </a:xfrm>
          <a:custGeom>
            <a:avLst/>
            <a:gdLst/>
            <a:ahLst/>
            <a:cxnLst/>
            <a:rect l="l" t="t" r="r" b="b"/>
            <a:pathLst>
              <a:path w="6309986" h="4703128">
                <a:moveTo>
                  <a:pt x="0" y="0"/>
                </a:moveTo>
                <a:lnTo>
                  <a:pt x="6309986" y="0"/>
                </a:lnTo>
                <a:lnTo>
                  <a:pt x="6309986" y="4703128"/>
                </a:lnTo>
                <a:lnTo>
                  <a:pt x="0" y="47031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066800"/>
            <a:ext cx="6502221" cy="159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i="1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Key Financial Risk Factors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943581"/>
            <a:ext cx="6502221" cy="20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i="1" dirty="0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Grade G borrowers' default at 98.4%</a:t>
            </a: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i="1" dirty="0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Defaulters borrow 25% of income vs 15% for non-defaulters</a:t>
            </a: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 i="1" dirty="0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Defaulters pay 13% interest vs 11% for non-defaulters</a:t>
            </a:r>
          </a:p>
          <a:p>
            <a:pPr algn="l">
              <a:lnSpc>
                <a:spcPts val="2749"/>
              </a:lnSpc>
            </a:pPr>
            <a:endParaRPr lang="en-US" sz="2499" i="1" dirty="0">
              <a:solidFill>
                <a:srgbClr val="183146"/>
              </a:solidFill>
              <a:latin typeface="Helios Italics"/>
              <a:ea typeface="Helios Italics"/>
              <a:cs typeface="Helios Italics"/>
              <a:sym typeface="Helios Itali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6730" y="2856515"/>
            <a:ext cx="5247503" cy="6401785"/>
            <a:chOff x="0" y="0"/>
            <a:chExt cx="1382059" cy="16860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82059" cy="1686067"/>
            </a:xfrm>
            <a:custGeom>
              <a:avLst/>
              <a:gdLst/>
              <a:ahLst/>
              <a:cxnLst/>
              <a:rect l="l" t="t" r="r" b="b"/>
              <a:pathLst>
                <a:path w="1382059" h="1686067">
                  <a:moveTo>
                    <a:pt x="14754" y="0"/>
                  </a:moveTo>
                  <a:lnTo>
                    <a:pt x="1367305" y="0"/>
                  </a:lnTo>
                  <a:cubicBezTo>
                    <a:pt x="1371218" y="0"/>
                    <a:pt x="1374971" y="1554"/>
                    <a:pt x="1377737" y="4321"/>
                  </a:cubicBezTo>
                  <a:cubicBezTo>
                    <a:pt x="1380504" y="7088"/>
                    <a:pt x="1382059" y="10841"/>
                    <a:pt x="1382059" y="14754"/>
                  </a:cubicBezTo>
                  <a:lnTo>
                    <a:pt x="1382059" y="1671313"/>
                  </a:lnTo>
                  <a:cubicBezTo>
                    <a:pt x="1382059" y="1675226"/>
                    <a:pt x="1380504" y="1678979"/>
                    <a:pt x="1377737" y="1681746"/>
                  </a:cubicBezTo>
                  <a:cubicBezTo>
                    <a:pt x="1374971" y="1684512"/>
                    <a:pt x="1371218" y="1686067"/>
                    <a:pt x="1367305" y="1686067"/>
                  </a:cubicBezTo>
                  <a:lnTo>
                    <a:pt x="14754" y="1686067"/>
                  </a:lnTo>
                  <a:cubicBezTo>
                    <a:pt x="10841" y="1686067"/>
                    <a:pt x="7088" y="1684512"/>
                    <a:pt x="4321" y="1681746"/>
                  </a:cubicBezTo>
                  <a:cubicBezTo>
                    <a:pt x="1554" y="1678979"/>
                    <a:pt x="0" y="1675226"/>
                    <a:pt x="0" y="1671313"/>
                  </a:cubicBezTo>
                  <a:lnTo>
                    <a:pt x="0" y="14754"/>
                  </a:lnTo>
                  <a:cubicBezTo>
                    <a:pt x="0" y="10841"/>
                    <a:pt x="1554" y="7088"/>
                    <a:pt x="4321" y="4321"/>
                  </a:cubicBezTo>
                  <a:cubicBezTo>
                    <a:pt x="7088" y="1554"/>
                    <a:pt x="10841" y="0"/>
                    <a:pt x="14754" y="0"/>
                  </a:cubicBezTo>
                  <a:close/>
                </a:path>
              </a:pathLst>
            </a:custGeom>
            <a:solidFill>
              <a:srgbClr val="F2F1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82059" cy="1724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20248" y="2856515"/>
            <a:ext cx="5247503" cy="6401785"/>
            <a:chOff x="0" y="0"/>
            <a:chExt cx="1382059" cy="16860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82059" cy="1686067"/>
            </a:xfrm>
            <a:custGeom>
              <a:avLst/>
              <a:gdLst/>
              <a:ahLst/>
              <a:cxnLst/>
              <a:rect l="l" t="t" r="r" b="b"/>
              <a:pathLst>
                <a:path w="1382059" h="1686067">
                  <a:moveTo>
                    <a:pt x="14754" y="0"/>
                  </a:moveTo>
                  <a:lnTo>
                    <a:pt x="1367305" y="0"/>
                  </a:lnTo>
                  <a:cubicBezTo>
                    <a:pt x="1371218" y="0"/>
                    <a:pt x="1374971" y="1554"/>
                    <a:pt x="1377737" y="4321"/>
                  </a:cubicBezTo>
                  <a:cubicBezTo>
                    <a:pt x="1380504" y="7088"/>
                    <a:pt x="1382059" y="10841"/>
                    <a:pt x="1382059" y="14754"/>
                  </a:cubicBezTo>
                  <a:lnTo>
                    <a:pt x="1382059" y="1671313"/>
                  </a:lnTo>
                  <a:cubicBezTo>
                    <a:pt x="1382059" y="1675226"/>
                    <a:pt x="1380504" y="1678979"/>
                    <a:pt x="1377737" y="1681746"/>
                  </a:cubicBezTo>
                  <a:cubicBezTo>
                    <a:pt x="1374971" y="1684512"/>
                    <a:pt x="1371218" y="1686067"/>
                    <a:pt x="1367305" y="1686067"/>
                  </a:cubicBezTo>
                  <a:lnTo>
                    <a:pt x="14754" y="1686067"/>
                  </a:lnTo>
                  <a:cubicBezTo>
                    <a:pt x="10841" y="1686067"/>
                    <a:pt x="7088" y="1684512"/>
                    <a:pt x="4321" y="1681746"/>
                  </a:cubicBezTo>
                  <a:cubicBezTo>
                    <a:pt x="1554" y="1678979"/>
                    <a:pt x="0" y="1675226"/>
                    <a:pt x="0" y="1671313"/>
                  </a:cubicBezTo>
                  <a:lnTo>
                    <a:pt x="0" y="14754"/>
                  </a:lnTo>
                  <a:cubicBezTo>
                    <a:pt x="0" y="10841"/>
                    <a:pt x="1554" y="7088"/>
                    <a:pt x="4321" y="4321"/>
                  </a:cubicBezTo>
                  <a:cubicBezTo>
                    <a:pt x="7088" y="1554"/>
                    <a:pt x="10841" y="0"/>
                    <a:pt x="14754" y="0"/>
                  </a:cubicBezTo>
                  <a:close/>
                </a:path>
              </a:pathLst>
            </a:custGeom>
            <a:solidFill>
              <a:srgbClr val="F2F1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82059" cy="1724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924105" y="8481818"/>
            <a:ext cx="2345842" cy="2375536"/>
          </a:xfrm>
          <a:custGeom>
            <a:avLst/>
            <a:gdLst/>
            <a:ahLst/>
            <a:cxnLst/>
            <a:rect l="l" t="t" r="r" b="b"/>
            <a:pathLst>
              <a:path w="2345842" h="2375536">
                <a:moveTo>
                  <a:pt x="0" y="0"/>
                </a:moveTo>
                <a:lnTo>
                  <a:pt x="2345842" y="0"/>
                </a:lnTo>
                <a:lnTo>
                  <a:pt x="2345842" y="2375536"/>
                </a:lnTo>
                <a:lnTo>
                  <a:pt x="0" y="2375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2013766" y="2856515"/>
            <a:ext cx="5247503" cy="6401785"/>
            <a:chOff x="0" y="0"/>
            <a:chExt cx="1382059" cy="16860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2059" cy="1686067"/>
            </a:xfrm>
            <a:custGeom>
              <a:avLst/>
              <a:gdLst/>
              <a:ahLst/>
              <a:cxnLst/>
              <a:rect l="l" t="t" r="r" b="b"/>
              <a:pathLst>
                <a:path w="1382059" h="1686067">
                  <a:moveTo>
                    <a:pt x="14754" y="0"/>
                  </a:moveTo>
                  <a:lnTo>
                    <a:pt x="1367305" y="0"/>
                  </a:lnTo>
                  <a:cubicBezTo>
                    <a:pt x="1371218" y="0"/>
                    <a:pt x="1374971" y="1554"/>
                    <a:pt x="1377737" y="4321"/>
                  </a:cubicBezTo>
                  <a:cubicBezTo>
                    <a:pt x="1380504" y="7088"/>
                    <a:pt x="1382059" y="10841"/>
                    <a:pt x="1382059" y="14754"/>
                  </a:cubicBezTo>
                  <a:lnTo>
                    <a:pt x="1382059" y="1671313"/>
                  </a:lnTo>
                  <a:cubicBezTo>
                    <a:pt x="1382059" y="1675226"/>
                    <a:pt x="1380504" y="1678979"/>
                    <a:pt x="1377737" y="1681746"/>
                  </a:cubicBezTo>
                  <a:cubicBezTo>
                    <a:pt x="1374971" y="1684512"/>
                    <a:pt x="1371218" y="1686067"/>
                    <a:pt x="1367305" y="1686067"/>
                  </a:cubicBezTo>
                  <a:lnTo>
                    <a:pt x="14754" y="1686067"/>
                  </a:lnTo>
                  <a:cubicBezTo>
                    <a:pt x="10841" y="1686067"/>
                    <a:pt x="7088" y="1684512"/>
                    <a:pt x="4321" y="1681746"/>
                  </a:cubicBezTo>
                  <a:cubicBezTo>
                    <a:pt x="1554" y="1678979"/>
                    <a:pt x="0" y="1675226"/>
                    <a:pt x="0" y="1671313"/>
                  </a:cubicBezTo>
                  <a:lnTo>
                    <a:pt x="0" y="14754"/>
                  </a:lnTo>
                  <a:cubicBezTo>
                    <a:pt x="0" y="10841"/>
                    <a:pt x="1554" y="7088"/>
                    <a:pt x="4321" y="4321"/>
                  </a:cubicBezTo>
                  <a:cubicBezTo>
                    <a:pt x="7088" y="1554"/>
                    <a:pt x="10841" y="0"/>
                    <a:pt x="14754" y="0"/>
                  </a:cubicBezTo>
                  <a:close/>
                </a:path>
              </a:pathLst>
            </a:custGeom>
            <a:solidFill>
              <a:srgbClr val="F2F1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2059" cy="1724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886994" y="3996657"/>
            <a:ext cx="3530581" cy="0"/>
          </a:xfrm>
          <a:prstGeom prst="line">
            <a:avLst/>
          </a:prstGeom>
          <a:ln w="19050" cap="flat">
            <a:solidFill>
              <a:srgbClr val="183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2342580" y="1997698"/>
            <a:ext cx="2112793" cy="0"/>
          </a:xfrm>
          <a:prstGeom prst="line">
            <a:avLst/>
          </a:prstGeom>
          <a:ln w="19050" cap="flat">
            <a:solidFill>
              <a:srgbClr val="183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4161440" y="1988173"/>
            <a:ext cx="2112793" cy="0"/>
          </a:xfrm>
          <a:prstGeom prst="line">
            <a:avLst/>
          </a:prstGeom>
          <a:ln w="19050" cap="flat">
            <a:solidFill>
              <a:srgbClr val="183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-1706892" y="-1716108"/>
            <a:ext cx="3105864" cy="2744808"/>
          </a:xfrm>
          <a:custGeom>
            <a:avLst/>
            <a:gdLst/>
            <a:ahLst/>
            <a:cxnLst/>
            <a:rect l="l" t="t" r="r" b="b"/>
            <a:pathLst>
              <a:path w="3105864" h="2744808">
                <a:moveTo>
                  <a:pt x="0" y="0"/>
                </a:moveTo>
                <a:lnTo>
                  <a:pt x="3105865" y="0"/>
                </a:lnTo>
                <a:lnTo>
                  <a:pt x="3105865" y="2744808"/>
                </a:lnTo>
                <a:lnTo>
                  <a:pt x="0" y="2744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4161440" y="1296035"/>
            <a:ext cx="10293933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i="1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Models Used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3940" y="4339000"/>
            <a:ext cx="5243898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Simple and widely used classification model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Predicts probability of default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Accuracy: 85% | AUC: 0.85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520248" y="4339000"/>
            <a:ext cx="5247503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Splits data into groups based on feature values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Easy to interpret and understand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Accuracy: 91% | AUC: 0.90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015402" y="4339000"/>
            <a:ext cx="5239781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Combines 100 decision trees for better accuracy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Uses bagging to reduce overfitting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Accuracy: 93% | AUC: 0.94 -Best Model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378709" y="3987132"/>
            <a:ext cx="3530581" cy="0"/>
          </a:xfrm>
          <a:prstGeom prst="line">
            <a:avLst/>
          </a:prstGeom>
          <a:ln w="19050" cap="flat">
            <a:solidFill>
              <a:srgbClr val="183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12874249" y="3977607"/>
            <a:ext cx="3530581" cy="0"/>
          </a:xfrm>
          <a:prstGeom prst="line">
            <a:avLst/>
          </a:prstGeom>
          <a:ln w="19050" cap="flat">
            <a:solidFill>
              <a:srgbClr val="183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6522051" y="3418490"/>
            <a:ext cx="524750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Tree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0335" y="3418490"/>
            <a:ext cx="524750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 Regression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07679" y="3418490"/>
            <a:ext cx="524750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46546" y="7339122"/>
            <a:ext cx="1861947" cy="4114800"/>
          </a:xfrm>
          <a:custGeom>
            <a:avLst/>
            <a:gdLst/>
            <a:ahLst/>
            <a:cxnLst/>
            <a:rect l="l" t="t" r="r" b="b"/>
            <a:pathLst>
              <a:path w="1861947" h="4114800">
                <a:moveTo>
                  <a:pt x="0" y="0"/>
                </a:moveTo>
                <a:lnTo>
                  <a:pt x="1861947" y="0"/>
                </a:lnTo>
                <a:lnTo>
                  <a:pt x="1861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341683">
            <a:off x="-2628900" y="-2051664"/>
            <a:ext cx="7315200" cy="3749040"/>
          </a:xfrm>
          <a:custGeom>
            <a:avLst/>
            <a:gdLst/>
            <a:ahLst/>
            <a:cxnLst/>
            <a:rect l="l" t="t" r="r" b="b"/>
            <a:pathLst>
              <a:path w="7315200" h="3749040">
                <a:moveTo>
                  <a:pt x="0" y="0"/>
                </a:moveTo>
                <a:lnTo>
                  <a:pt x="7315200" y="0"/>
                </a:lnTo>
                <a:lnTo>
                  <a:pt x="7315200" y="3749040"/>
                </a:lnTo>
                <a:lnTo>
                  <a:pt x="0" y="3749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23401" y="2902866"/>
            <a:ext cx="9829034" cy="6493656"/>
          </a:xfrm>
          <a:custGeom>
            <a:avLst/>
            <a:gdLst/>
            <a:ahLst/>
            <a:cxnLst/>
            <a:rect l="l" t="t" r="r" b="b"/>
            <a:pathLst>
              <a:path w="9829034" h="6493656">
                <a:moveTo>
                  <a:pt x="0" y="0"/>
                </a:moveTo>
                <a:lnTo>
                  <a:pt x="9829034" y="0"/>
                </a:lnTo>
                <a:lnTo>
                  <a:pt x="9829034" y="6493656"/>
                </a:lnTo>
                <a:lnTo>
                  <a:pt x="0" y="6493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Object 7"/>
          <p:cNvGraphicFramePr/>
          <p:nvPr/>
        </p:nvGraphicFramePr>
        <p:xfrm>
          <a:off x="10764644" y="5774271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9105900" imgH="5791200" progId="Excel.Sheet.12">
                  <p:embed/>
                </p:oleObj>
              </mc:Choice>
              <mc:Fallback>
                <p:oleObj name="Worksheet" r:id="rId6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64644" y="5774271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705482" y="1066800"/>
            <a:ext cx="9558520" cy="81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i="1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Model Results &amp;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527656" y="6996736"/>
            <a:ext cx="4063365" cy="4114800"/>
          </a:xfrm>
          <a:custGeom>
            <a:avLst/>
            <a:gdLst/>
            <a:ahLst/>
            <a:cxnLst/>
            <a:rect l="l" t="t" r="r" b="b"/>
            <a:pathLst>
              <a:path w="4063365" h="4114800">
                <a:moveTo>
                  <a:pt x="0" y="0"/>
                </a:moveTo>
                <a:lnTo>
                  <a:pt x="4063365" y="0"/>
                </a:lnTo>
                <a:lnTo>
                  <a:pt x="40633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182659" y="-788309"/>
            <a:ext cx="2365319" cy="2404390"/>
          </a:xfrm>
          <a:custGeom>
            <a:avLst/>
            <a:gdLst/>
            <a:ahLst/>
            <a:cxnLst/>
            <a:rect l="l" t="t" r="r" b="b"/>
            <a:pathLst>
              <a:path w="2365319" h="2404390">
                <a:moveTo>
                  <a:pt x="0" y="0"/>
                </a:moveTo>
                <a:lnTo>
                  <a:pt x="2365318" y="0"/>
                </a:lnTo>
                <a:lnTo>
                  <a:pt x="2365318" y="2404390"/>
                </a:lnTo>
                <a:lnTo>
                  <a:pt x="0" y="2404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77906" y="3238471"/>
            <a:ext cx="9575523" cy="5175007"/>
          </a:xfrm>
          <a:custGeom>
            <a:avLst/>
            <a:gdLst/>
            <a:ahLst/>
            <a:cxnLst/>
            <a:rect l="l" t="t" r="r" b="b"/>
            <a:pathLst>
              <a:path w="9575523" h="5175007">
                <a:moveTo>
                  <a:pt x="0" y="0"/>
                </a:moveTo>
                <a:lnTo>
                  <a:pt x="9575523" y="0"/>
                </a:lnTo>
                <a:lnTo>
                  <a:pt x="9575523" y="5175007"/>
                </a:lnTo>
                <a:lnTo>
                  <a:pt x="0" y="517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7" b="-1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26078" y="1066800"/>
            <a:ext cx="9484758" cy="81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i="1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What Drives Loan Default?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53429" y="3781189"/>
            <a:ext cx="6800825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Loan-to-income ratio is the strongest predictor of default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Lower income is associated with higher default risk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Higher interest rates are linked to more defaults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79772" y="2763418"/>
            <a:ext cx="1498451" cy="1412291"/>
          </a:xfrm>
          <a:custGeom>
            <a:avLst/>
            <a:gdLst/>
            <a:ahLst/>
            <a:cxnLst/>
            <a:rect l="l" t="t" r="r" b="b"/>
            <a:pathLst>
              <a:path w="1498451" h="1412291">
                <a:moveTo>
                  <a:pt x="0" y="0"/>
                </a:moveTo>
                <a:lnTo>
                  <a:pt x="1498452" y="0"/>
                </a:lnTo>
                <a:lnTo>
                  <a:pt x="1498452" y="1412290"/>
                </a:lnTo>
                <a:lnTo>
                  <a:pt x="0" y="1412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662428"/>
            <a:ext cx="16230600" cy="2983631"/>
            <a:chOff x="0" y="0"/>
            <a:chExt cx="4274726" cy="7858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785812"/>
            </a:xfrm>
            <a:custGeom>
              <a:avLst/>
              <a:gdLst/>
              <a:ahLst/>
              <a:cxnLst/>
              <a:rect l="l" t="t" r="r" b="b"/>
              <a:pathLst>
                <a:path w="4274726" h="785812">
                  <a:moveTo>
                    <a:pt x="4770" y="0"/>
                  </a:moveTo>
                  <a:lnTo>
                    <a:pt x="4269956" y="0"/>
                  </a:lnTo>
                  <a:cubicBezTo>
                    <a:pt x="4271221" y="0"/>
                    <a:pt x="4272434" y="503"/>
                    <a:pt x="4273329" y="1397"/>
                  </a:cubicBezTo>
                  <a:cubicBezTo>
                    <a:pt x="4274223" y="2292"/>
                    <a:pt x="4274726" y="3505"/>
                    <a:pt x="4274726" y="4770"/>
                  </a:cubicBezTo>
                  <a:lnTo>
                    <a:pt x="4274726" y="781042"/>
                  </a:lnTo>
                  <a:cubicBezTo>
                    <a:pt x="4274726" y="782307"/>
                    <a:pt x="4274223" y="783521"/>
                    <a:pt x="4273329" y="784415"/>
                  </a:cubicBezTo>
                  <a:cubicBezTo>
                    <a:pt x="4272434" y="785310"/>
                    <a:pt x="4271221" y="785812"/>
                    <a:pt x="4269956" y="785812"/>
                  </a:cubicBezTo>
                  <a:lnTo>
                    <a:pt x="4770" y="785812"/>
                  </a:lnTo>
                  <a:cubicBezTo>
                    <a:pt x="3505" y="785812"/>
                    <a:pt x="2292" y="785310"/>
                    <a:pt x="1397" y="784415"/>
                  </a:cubicBezTo>
                  <a:cubicBezTo>
                    <a:pt x="503" y="783521"/>
                    <a:pt x="0" y="782307"/>
                    <a:pt x="0" y="781042"/>
                  </a:cubicBezTo>
                  <a:lnTo>
                    <a:pt x="0" y="4770"/>
                  </a:lnTo>
                  <a:cubicBezTo>
                    <a:pt x="0" y="3505"/>
                    <a:pt x="503" y="2292"/>
                    <a:pt x="1397" y="1397"/>
                  </a:cubicBezTo>
                  <a:cubicBezTo>
                    <a:pt x="2292" y="503"/>
                    <a:pt x="3505" y="0"/>
                    <a:pt x="4770" y="0"/>
                  </a:cubicBezTo>
                  <a:close/>
                </a:path>
              </a:pathLst>
            </a:custGeom>
            <a:solidFill>
              <a:srgbClr val="F2F1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823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617447" y="-2620504"/>
            <a:ext cx="4053078" cy="4114800"/>
          </a:xfrm>
          <a:custGeom>
            <a:avLst/>
            <a:gdLst/>
            <a:ahLst/>
            <a:cxnLst/>
            <a:rect l="l" t="t" r="r" b="b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379772" y="8714256"/>
            <a:ext cx="2308758" cy="2597759"/>
          </a:xfrm>
          <a:custGeom>
            <a:avLst/>
            <a:gdLst/>
            <a:ahLst/>
            <a:cxnLst/>
            <a:rect l="l" t="t" r="r" b="b"/>
            <a:pathLst>
              <a:path w="2308758" h="2597759">
                <a:moveTo>
                  <a:pt x="0" y="0"/>
                </a:moveTo>
                <a:lnTo>
                  <a:pt x="2308758" y="0"/>
                </a:lnTo>
                <a:lnTo>
                  <a:pt x="2308758" y="2597759"/>
                </a:lnTo>
                <a:lnTo>
                  <a:pt x="0" y="2597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452341" y="1532396"/>
            <a:ext cx="7383317" cy="81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i="1">
                <a:solidFill>
                  <a:srgbClr val="183146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Conclusion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17101" y="4320452"/>
            <a:ext cx="12275452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5024"/>
              </a:lnSpc>
              <a:buFont typeface="Arial"/>
              <a:buChar char="•"/>
            </a:pPr>
            <a:r>
              <a:rPr lang="en-US" sz="2499">
                <a:solidFill>
                  <a:srgbClr val="183146"/>
                </a:solidFill>
                <a:latin typeface="Helios"/>
                <a:ea typeface="Helios"/>
                <a:cs typeface="Helios"/>
                <a:sym typeface="Helios"/>
              </a:rPr>
              <a:t>Achieved 93% accuracy in loan default prediction</a:t>
            </a:r>
          </a:p>
          <a:p>
            <a:pPr marL="539749" lvl="1" indent="-269875" algn="l">
              <a:lnSpc>
                <a:spcPts val="5024"/>
              </a:lnSpc>
              <a:buFont typeface="Arial"/>
              <a:buChar char="•"/>
            </a:pPr>
            <a:r>
              <a:rPr lang="en-US" sz="2499">
                <a:solidFill>
                  <a:srgbClr val="183146"/>
                </a:solidFill>
                <a:latin typeface="Helios"/>
                <a:ea typeface="Helios"/>
                <a:cs typeface="Helios"/>
                <a:sym typeface="Helios"/>
              </a:rPr>
              <a:t>Random Forest performed best among the three models</a:t>
            </a:r>
          </a:p>
          <a:p>
            <a:pPr marL="539749" lvl="1" indent="-269875" algn="l">
              <a:lnSpc>
                <a:spcPts val="5024"/>
              </a:lnSpc>
              <a:buFont typeface="Arial"/>
              <a:buChar char="•"/>
            </a:pPr>
            <a:r>
              <a:rPr lang="en-US" sz="2499">
                <a:solidFill>
                  <a:srgbClr val="183146"/>
                </a:solidFill>
                <a:latin typeface="Helios"/>
                <a:ea typeface="Helios"/>
                <a:cs typeface="Helios"/>
                <a:sym typeface="Helios"/>
              </a:rPr>
              <a:t>Key predictors: loan-to-income ratio, income, and interest rate</a:t>
            </a:r>
          </a:p>
          <a:p>
            <a:pPr marL="539749" lvl="1" indent="-269875" algn="l">
              <a:lnSpc>
                <a:spcPts val="5024"/>
              </a:lnSpc>
              <a:buFont typeface="Arial"/>
              <a:buChar char="•"/>
            </a:pPr>
            <a:r>
              <a:rPr lang="en-US" sz="2499">
                <a:solidFill>
                  <a:srgbClr val="183146"/>
                </a:solidFill>
                <a:latin typeface="Helios"/>
                <a:ea typeface="Helios"/>
                <a:cs typeface="Helios"/>
                <a:sym typeface="Helios"/>
              </a:rPr>
              <a:t>This model can help banks identify high-risk applicants before approval</a:t>
            </a:r>
          </a:p>
          <a:p>
            <a:pPr marL="539749" lvl="1" indent="-269875" algn="l">
              <a:lnSpc>
                <a:spcPts val="5024"/>
              </a:lnSpc>
              <a:buFont typeface="Arial"/>
              <a:buChar char="•"/>
            </a:pPr>
            <a:r>
              <a:rPr lang="en-US" sz="2499">
                <a:solidFill>
                  <a:srgbClr val="183146"/>
                </a:solidFill>
                <a:latin typeface="Helios"/>
                <a:ea typeface="Helios"/>
                <a:cs typeface="Helios"/>
                <a:sym typeface="Helios"/>
              </a:rPr>
              <a:t>This approach improves lending decisions and reduces financial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766043" y="6941712"/>
            <a:ext cx="3862768" cy="4114800"/>
          </a:xfrm>
          <a:custGeom>
            <a:avLst/>
            <a:gdLst/>
            <a:ahLst/>
            <a:cxnLst/>
            <a:rect l="l" t="t" r="r" b="b"/>
            <a:pathLst>
              <a:path w="3862768" h="4114800">
                <a:moveTo>
                  <a:pt x="0" y="0"/>
                </a:moveTo>
                <a:lnTo>
                  <a:pt x="3862768" y="0"/>
                </a:lnTo>
                <a:lnTo>
                  <a:pt x="3862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522839" y="8709978"/>
            <a:ext cx="3065963" cy="0"/>
          </a:xfrm>
          <a:prstGeom prst="line">
            <a:avLst/>
          </a:prstGeom>
          <a:ln w="19050" cap="flat">
            <a:solidFill>
              <a:srgbClr val="C9CB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2700079" y="8709978"/>
            <a:ext cx="3065963" cy="0"/>
          </a:xfrm>
          <a:prstGeom prst="line">
            <a:avLst/>
          </a:prstGeom>
          <a:ln w="19050" cap="flat">
            <a:solidFill>
              <a:srgbClr val="C9CB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487492" y="-915828"/>
            <a:ext cx="2310566" cy="2372854"/>
          </a:xfrm>
          <a:custGeom>
            <a:avLst/>
            <a:gdLst/>
            <a:ahLst/>
            <a:cxnLst/>
            <a:rect l="l" t="t" r="r" b="b"/>
            <a:pathLst>
              <a:path w="2310566" h="2372854">
                <a:moveTo>
                  <a:pt x="0" y="0"/>
                </a:moveTo>
                <a:lnTo>
                  <a:pt x="2310567" y="0"/>
                </a:lnTo>
                <a:lnTo>
                  <a:pt x="2310567" y="2372853"/>
                </a:lnTo>
                <a:lnTo>
                  <a:pt x="0" y="2372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974004" y="1617430"/>
            <a:ext cx="8339992" cy="81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i="1">
                <a:solidFill>
                  <a:srgbClr val="000000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0912" y="8322628"/>
            <a:ext cx="626705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000000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Thank You</a:t>
            </a:r>
          </a:p>
        </p:txBody>
      </p:sp>
      <p:sp>
        <p:nvSpPr>
          <p:cNvPr id="9" name="Freeform 9"/>
          <p:cNvSpPr/>
          <p:nvPr/>
        </p:nvSpPr>
        <p:spPr>
          <a:xfrm>
            <a:off x="-946404" y="925830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0" y="0"/>
                </a:moveTo>
                <a:lnTo>
                  <a:pt x="1892808" y="0"/>
                </a:lnTo>
                <a:lnTo>
                  <a:pt x="18928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 flipV="1">
            <a:off x="17754255" y="-2890520"/>
            <a:ext cx="1892808" cy="4114800"/>
          </a:xfrm>
          <a:custGeom>
            <a:avLst/>
            <a:gdLst/>
            <a:ahLst/>
            <a:cxnLst/>
            <a:rect l="l" t="t" r="r" b="b"/>
            <a:pathLst>
              <a:path w="1892808" h="4114800">
                <a:moveTo>
                  <a:pt x="18928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1892808" y="0"/>
                </a:lnTo>
                <a:lnTo>
                  <a:pt x="189280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53008" y="2857500"/>
            <a:ext cx="5912941" cy="245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Credit Risk Dataset: Kaggle (Lao Tse)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Scikit-learn Documentation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Pandas, NumPy, Matplotlib, Seaborn </a:t>
            </a:r>
          </a:p>
          <a:p>
            <a:pPr algn="l">
              <a:lnSpc>
                <a:spcPts val="4999"/>
              </a:lnSpc>
            </a:pPr>
            <a:endParaRPr lang="en-US" sz="24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389</Words>
  <Application>Microsoft Macintosh PowerPoint</Application>
  <PresentationFormat>Custom</PresentationFormat>
  <Paragraphs>70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Helios Bold</vt:lpstr>
      <vt:lpstr>Canva Sans Bold</vt:lpstr>
      <vt:lpstr>Arial</vt:lpstr>
      <vt:lpstr>Helios Italics</vt:lpstr>
      <vt:lpstr>Helios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Corporate Annual Report Presentation</dc:title>
  <cp:lastModifiedBy>Rahila Jafari</cp:lastModifiedBy>
  <cp:revision>4</cp:revision>
  <dcterms:created xsi:type="dcterms:W3CDTF">2006-08-16T00:00:00Z</dcterms:created>
  <dcterms:modified xsi:type="dcterms:W3CDTF">2026-04-28T22:14:59Z</dcterms:modified>
  <dc:identifier>DAHH5j-Zl24</dc:identifier>
</cp:coreProperties>
</file>